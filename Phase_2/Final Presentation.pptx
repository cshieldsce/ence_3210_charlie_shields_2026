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4" r:id="rId10"/>
    <p:sldId id="263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0E34E4-1AC4-4E47-8DF4-18C27046C8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40E511-FFC8-43D0-849C-7F3E024B42E5}">
      <dgm:prSet/>
      <dgm:spPr/>
      <dgm:t>
        <a:bodyPr/>
        <a:lstStyle/>
        <a:p>
          <a:r>
            <a:rPr lang="en-US" dirty="0"/>
            <a:t> Available:</a:t>
          </a:r>
        </a:p>
      </dgm:t>
    </dgm:pt>
    <dgm:pt modelId="{ABCC77C4-9DF3-4BE3-B8A1-563422A2080C}" type="parTrans" cxnId="{E0D97F70-FE84-4BFC-A0E5-3010D92EB63B}">
      <dgm:prSet/>
      <dgm:spPr/>
      <dgm:t>
        <a:bodyPr/>
        <a:lstStyle/>
        <a:p>
          <a:endParaRPr lang="en-US"/>
        </a:p>
      </dgm:t>
    </dgm:pt>
    <dgm:pt modelId="{02A037B4-1190-46FF-AA93-2699B027B22F}" type="sibTrans" cxnId="{E0D97F70-FE84-4BFC-A0E5-3010D92EB63B}">
      <dgm:prSet/>
      <dgm:spPr/>
      <dgm:t>
        <a:bodyPr/>
        <a:lstStyle/>
        <a:p>
          <a:endParaRPr lang="en-US"/>
        </a:p>
      </dgm:t>
    </dgm:pt>
    <dgm:pt modelId="{48E136BB-0C91-4B17-8C68-1BE4CE1611AA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Arduino UNO</a:t>
          </a:r>
        </a:p>
      </dgm:t>
    </dgm:pt>
    <dgm:pt modelId="{174388EE-31BD-4689-8598-77A1B5F79461}" type="parTrans" cxnId="{7E9D4650-C50A-4A1F-BB1E-8270F4E8B31F}">
      <dgm:prSet/>
      <dgm:spPr/>
      <dgm:t>
        <a:bodyPr/>
        <a:lstStyle/>
        <a:p>
          <a:endParaRPr lang="en-US"/>
        </a:p>
      </dgm:t>
    </dgm:pt>
    <dgm:pt modelId="{5B7AA3B4-A1B3-456C-9733-E31C833DD5A5}" type="sibTrans" cxnId="{7E9D4650-C50A-4A1F-BB1E-8270F4E8B31F}">
      <dgm:prSet/>
      <dgm:spPr/>
      <dgm:t>
        <a:bodyPr/>
        <a:lstStyle/>
        <a:p>
          <a:endParaRPr lang="en-US"/>
        </a:p>
      </dgm:t>
    </dgm:pt>
    <dgm:pt modelId="{6C6560F8-C140-4980-A047-87767EFED71C}">
      <dgm:prSet/>
      <dgm:spPr/>
      <dgm:t>
        <a:bodyPr/>
        <a:lstStyle/>
        <a:p>
          <a:r>
            <a:rPr lang="en-US" dirty="0">
              <a:solidFill>
                <a:schemeClr val="accent6"/>
              </a:solidFill>
            </a:rPr>
            <a:t>TMP36 </a:t>
          </a:r>
        </a:p>
      </dgm:t>
    </dgm:pt>
    <dgm:pt modelId="{86105CCC-9F16-4CAB-8298-933FCFAAE290}" type="parTrans" cxnId="{2421C87F-77C2-47F4-B73E-124EF837628F}">
      <dgm:prSet/>
      <dgm:spPr/>
      <dgm:t>
        <a:bodyPr/>
        <a:lstStyle/>
        <a:p>
          <a:endParaRPr lang="en-US"/>
        </a:p>
      </dgm:t>
    </dgm:pt>
    <dgm:pt modelId="{3E591ABA-8FAA-48F4-93AD-CB9BFF03F0EA}" type="sibTrans" cxnId="{2421C87F-77C2-47F4-B73E-124EF837628F}">
      <dgm:prSet/>
      <dgm:spPr/>
      <dgm:t>
        <a:bodyPr/>
        <a:lstStyle/>
        <a:p>
          <a:endParaRPr lang="en-US"/>
        </a:p>
      </dgm:t>
    </dgm:pt>
    <dgm:pt modelId="{CC679A20-9F30-4ED3-B68C-194A3EF89CFF}">
      <dgm:prSet/>
      <dgm:spPr/>
      <dgm:t>
        <a:bodyPr/>
        <a:lstStyle/>
        <a:p>
          <a:r>
            <a:rPr lang="en-US" dirty="0">
              <a:solidFill>
                <a:schemeClr val="accent6"/>
              </a:solidFill>
            </a:rPr>
            <a:t>LEDs</a:t>
          </a:r>
        </a:p>
      </dgm:t>
    </dgm:pt>
    <dgm:pt modelId="{CD8A0860-E9E0-491F-891C-9CC84D22B136}" type="parTrans" cxnId="{0CA34AED-E645-49FF-BF44-D251BBE4D951}">
      <dgm:prSet/>
      <dgm:spPr/>
      <dgm:t>
        <a:bodyPr/>
        <a:lstStyle/>
        <a:p>
          <a:endParaRPr lang="en-US"/>
        </a:p>
      </dgm:t>
    </dgm:pt>
    <dgm:pt modelId="{C241DCC9-6D40-4637-A5A4-11108DA6F09B}" type="sibTrans" cxnId="{0CA34AED-E645-49FF-BF44-D251BBE4D951}">
      <dgm:prSet/>
      <dgm:spPr/>
      <dgm:t>
        <a:bodyPr/>
        <a:lstStyle/>
        <a:p>
          <a:endParaRPr lang="en-US"/>
        </a:p>
      </dgm:t>
    </dgm:pt>
    <dgm:pt modelId="{B432999E-41B7-4D58-9824-42FCBD4E45F6}">
      <dgm:prSet/>
      <dgm:spPr/>
      <dgm:t>
        <a:bodyPr/>
        <a:lstStyle/>
        <a:p>
          <a:r>
            <a:rPr lang="en-US" dirty="0">
              <a:solidFill>
                <a:schemeClr val="accent6"/>
              </a:solidFill>
            </a:rPr>
            <a:t>Data Logger</a:t>
          </a:r>
        </a:p>
      </dgm:t>
    </dgm:pt>
    <dgm:pt modelId="{DC48C94A-5B08-4C45-BCDD-9B2CF10CBE5A}" type="parTrans" cxnId="{0C585D5A-ED30-4CC8-A792-A5412C5490F0}">
      <dgm:prSet/>
      <dgm:spPr/>
      <dgm:t>
        <a:bodyPr/>
        <a:lstStyle/>
        <a:p>
          <a:endParaRPr lang="en-US"/>
        </a:p>
      </dgm:t>
    </dgm:pt>
    <dgm:pt modelId="{C11664CB-6F17-4DC3-B283-691C093F2B98}" type="sibTrans" cxnId="{0C585D5A-ED30-4CC8-A792-A5412C5490F0}">
      <dgm:prSet/>
      <dgm:spPr/>
      <dgm:t>
        <a:bodyPr/>
        <a:lstStyle/>
        <a:p>
          <a:endParaRPr lang="en-US"/>
        </a:p>
      </dgm:t>
    </dgm:pt>
    <dgm:pt modelId="{E1BA01B5-B9C6-417B-A913-D4F0CABC0FA1}">
      <dgm:prSet/>
      <dgm:spPr/>
      <dgm:t>
        <a:bodyPr/>
        <a:lstStyle/>
        <a:p>
          <a:r>
            <a:rPr lang="en-US" dirty="0">
              <a:solidFill>
                <a:schemeClr val="accent6"/>
              </a:solidFill>
            </a:rPr>
            <a:t>Battery</a:t>
          </a:r>
        </a:p>
      </dgm:t>
    </dgm:pt>
    <dgm:pt modelId="{701E3CDA-D7CA-426C-ACE2-24B9283092A3}" type="parTrans" cxnId="{700FB047-C39D-47A0-A073-9801DC89639B}">
      <dgm:prSet/>
      <dgm:spPr/>
      <dgm:t>
        <a:bodyPr/>
        <a:lstStyle/>
        <a:p>
          <a:endParaRPr lang="en-US"/>
        </a:p>
      </dgm:t>
    </dgm:pt>
    <dgm:pt modelId="{E253C9A3-A574-4023-A81C-767A3A5AAB18}" type="sibTrans" cxnId="{700FB047-C39D-47A0-A073-9801DC89639B}">
      <dgm:prSet/>
      <dgm:spPr/>
      <dgm:t>
        <a:bodyPr/>
        <a:lstStyle/>
        <a:p>
          <a:endParaRPr lang="en-US"/>
        </a:p>
      </dgm:t>
    </dgm:pt>
    <dgm:pt modelId="{F3EC3089-EFBE-4804-B473-2BF884ED0F12}">
      <dgm:prSet/>
      <dgm:spPr/>
      <dgm:t>
        <a:bodyPr/>
        <a:lstStyle/>
        <a:p>
          <a:r>
            <a:rPr lang="en-US" dirty="0">
              <a:solidFill>
                <a:schemeClr val="accent6"/>
              </a:solidFill>
            </a:rPr>
            <a:t>Power Switch</a:t>
          </a:r>
        </a:p>
      </dgm:t>
    </dgm:pt>
    <dgm:pt modelId="{D8E0FA9D-CF98-4A39-9061-C72FAB4F25AB}" type="parTrans" cxnId="{6FA5A123-F73E-42FD-A9A9-64DF1BE1C0B7}">
      <dgm:prSet/>
      <dgm:spPr/>
      <dgm:t>
        <a:bodyPr/>
        <a:lstStyle/>
        <a:p>
          <a:endParaRPr lang="en-US"/>
        </a:p>
      </dgm:t>
    </dgm:pt>
    <dgm:pt modelId="{C8FCC6EB-1A6E-4D6C-9C43-F5702D80ED89}" type="sibTrans" cxnId="{6FA5A123-F73E-42FD-A9A9-64DF1BE1C0B7}">
      <dgm:prSet/>
      <dgm:spPr/>
      <dgm:t>
        <a:bodyPr/>
        <a:lstStyle/>
        <a:p>
          <a:endParaRPr lang="en-US"/>
        </a:p>
      </dgm:t>
    </dgm:pt>
    <dgm:pt modelId="{D02F78AE-C60B-4572-948F-954242067613}">
      <dgm:prSet/>
      <dgm:spPr/>
      <dgm:t>
        <a:bodyPr/>
        <a:lstStyle/>
        <a:p>
          <a:r>
            <a:rPr lang="en-US" dirty="0">
              <a:solidFill>
                <a:schemeClr val="accent6"/>
              </a:solidFill>
            </a:rPr>
            <a:t>Resistors</a:t>
          </a:r>
        </a:p>
      </dgm:t>
    </dgm:pt>
    <dgm:pt modelId="{E47D6E2E-DA94-4F3C-A477-FA89D1BBD1B3}" type="parTrans" cxnId="{90A063C6-84CC-41FE-9D72-224CED45E328}">
      <dgm:prSet/>
      <dgm:spPr/>
      <dgm:t>
        <a:bodyPr/>
        <a:lstStyle/>
        <a:p>
          <a:endParaRPr lang="en-US"/>
        </a:p>
      </dgm:t>
    </dgm:pt>
    <dgm:pt modelId="{7ACAD547-CB5D-4107-AA0A-A8B607C462AC}" type="sibTrans" cxnId="{90A063C6-84CC-41FE-9D72-224CED45E328}">
      <dgm:prSet/>
      <dgm:spPr/>
      <dgm:t>
        <a:bodyPr/>
        <a:lstStyle/>
        <a:p>
          <a:endParaRPr lang="en-US"/>
        </a:p>
      </dgm:t>
    </dgm:pt>
    <dgm:pt modelId="{3D8BB7E1-0DB7-4B10-914F-0F2A2559FE20}" type="pres">
      <dgm:prSet presAssocID="{E60E34E4-1AC4-4E47-8DF4-18C27046C84E}" presName="linear" presStyleCnt="0">
        <dgm:presLayoutVars>
          <dgm:animLvl val="lvl"/>
          <dgm:resizeHandles val="exact"/>
        </dgm:presLayoutVars>
      </dgm:prSet>
      <dgm:spPr/>
    </dgm:pt>
    <dgm:pt modelId="{CA3D42DE-6CF4-4B02-9857-4AC825CCEA1E}" type="pres">
      <dgm:prSet presAssocID="{4C40E511-FFC8-43D0-849C-7F3E024B42E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8B26558-DAD1-4125-BD02-C06712A038DD}" type="pres">
      <dgm:prSet presAssocID="{4C40E511-FFC8-43D0-849C-7F3E024B42E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1B0560B-2770-4ED5-998D-D58697632B70}" type="presOf" srcId="{B432999E-41B7-4D58-9824-42FCBD4E45F6}" destId="{D8B26558-DAD1-4125-BD02-C06712A038DD}" srcOrd="0" destOrd="3" presId="urn:microsoft.com/office/officeart/2005/8/layout/vList2"/>
    <dgm:cxn modelId="{6FA5A123-F73E-42FD-A9A9-64DF1BE1C0B7}" srcId="{4C40E511-FFC8-43D0-849C-7F3E024B42E5}" destId="{F3EC3089-EFBE-4804-B473-2BF884ED0F12}" srcOrd="5" destOrd="0" parTransId="{D8E0FA9D-CF98-4A39-9061-C72FAB4F25AB}" sibTransId="{C8FCC6EB-1A6E-4D6C-9C43-F5702D80ED89}"/>
    <dgm:cxn modelId="{EB603837-FE96-4887-98C5-ED1608E5A071}" type="presOf" srcId="{F3EC3089-EFBE-4804-B473-2BF884ED0F12}" destId="{D8B26558-DAD1-4125-BD02-C06712A038DD}" srcOrd="0" destOrd="5" presId="urn:microsoft.com/office/officeart/2005/8/layout/vList2"/>
    <dgm:cxn modelId="{700FB047-C39D-47A0-A073-9801DC89639B}" srcId="{4C40E511-FFC8-43D0-849C-7F3E024B42E5}" destId="{E1BA01B5-B9C6-417B-A913-D4F0CABC0FA1}" srcOrd="4" destOrd="0" parTransId="{701E3CDA-D7CA-426C-ACE2-24B9283092A3}" sibTransId="{E253C9A3-A574-4023-A81C-767A3A5AAB18}"/>
    <dgm:cxn modelId="{7E9D4650-C50A-4A1F-BB1E-8270F4E8B31F}" srcId="{4C40E511-FFC8-43D0-849C-7F3E024B42E5}" destId="{48E136BB-0C91-4B17-8C68-1BE4CE1611AA}" srcOrd="0" destOrd="0" parTransId="{174388EE-31BD-4689-8598-77A1B5F79461}" sibTransId="{5B7AA3B4-A1B3-456C-9733-E31C833DD5A5}"/>
    <dgm:cxn modelId="{E0D97F70-FE84-4BFC-A0E5-3010D92EB63B}" srcId="{E60E34E4-1AC4-4E47-8DF4-18C27046C84E}" destId="{4C40E511-FFC8-43D0-849C-7F3E024B42E5}" srcOrd="0" destOrd="0" parTransId="{ABCC77C4-9DF3-4BE3-B8A1-563422A2080C}" sibTransId="{02A037B4-1190-46FF-AA93-2699B027B22F}"/>
    <dgm:cxn modelId="{CBCE1857-15CD-420C-89C4-7186064886CE}" type="presOf" srcId="{6C6560F8-C140-4980-A047-87767EFED71C}" destId="{D8B26558-DAD1-4125-BD02-C06712A038DD}" srcOrd="0" destOrd="1" presId="urn:microsoft.com/office/officeart/2005/8/layout/vList2"/>
    <dgm:cxn modelId="{0C585D5A-ED30-4CC8-A792-A5412C5490F0}" srcId="{4C40E511-FFC8-43D0-849C-7F3E024B42E5}" destId="{B432999E-41B7-4D58-9824-42FCBD4E45F6}" srcOrd="3" destOrd="0" parTransId="{DC48C94A-5B08-4C45-BCDD-9B2CF10CBE5A}" sibTransId="{C11664CB-6F17-4DC3-B283-691C093F2B98}"/>
    <dgm:cxn modelId="{2421C87F-77C2-47F4-B73E-124EF837628F}" srcId="{4C40E511-FFC8-43D0-849C-7F3E024B42E5}" destId="{6C6560F8-C140-4980-A047-87767EFED71C}" srcOrd="1" destOrd="0" parTransId="{86105CCC-9F16-4CAB-8298-933FCFAAE290}" sibTransId="{3E591ABA-8FAA-48F4-93AD-CB9BFF03F0EA}"/>
    <dgm:cxn modelId="{4013EDA8-1CFC-45B4-B247-0FF75DF74DB0}" type="presOf" srcId="{E1BA01B5-B9C6-417B-A913-D4F0CABC0FA1}" destId="{D8B26558-DAD1-4125-BD02-C06712A038DD}" srcOrd="0" destOrd="4" presId="urn:microsoft.com/office/officeart/2005/8/layout/vList2"/>
    <dgm:cxn modelId="{8848CBB6-B516-40F1-ABE4-CD670486D515}" type="presOf" srcId="{48E136BB-0C91-4B17-8C68-1BE4CE1611AA}" destId="{D8B26558-DAD1-4125-BD02-C06712A038DD}" srcOrd="0" destOrd="0" presId="urn:microsoft.com/office/officeart/2005/8/layout/vList2"/>
    <dgm:cxn modelId="{5FA764C4-9BD0-4C5E-A70B-3D08BA7724AD}" type="presOf" srcId="{CC679A20-9F30-4ED3-B68C-194A3EF89CFF}" destId="{D8B26558-DAD1-4125-BD02-C06712A038DD}" srcOrd="0" destOrd="2" presId="urn:microsoft.com/office/officeart/2005/8/layout/vList2"/>
    <dgm:cxn modelId="{90A063C6-84CC-41FE-9D72-224CED45E328}" srcId="{4C40E511-FFC8-43D0-849C-7F3E024B42E5}" destId="{D02F78AE-C60B-4572-948F-954242067613}" srcOrd="6" destOrd="0" parTransId="{E47D6E2E-DA94-4F3C-A477-FA89D1BBD1B3}" sibTransId="{7ACAD547-CB5D-4107-AA0A-A8B607C462AC}"/>
    <dgm:cxn modelId="{50F85ED5-966C-4392-930D-BA0737CFCC1B}" type="presOf" srcId="{E60E34E4-1AC4-4E47-8DF4-18C27046C84E}" destId="{3D8BB7E1-0DB7-4B10-914F-0F2A2559FE20}" srcOrd="0" destOrd="0" presId="urn:microsoft.com/office/officeart/2005/8/layout/vList2"/>
    <dgm:cxn modelId="{9FD191E0-FBF9-48AE-B6A7-B76819A3A1F3}" type="presOf" srcId="{4C40E511-FFC8-43D0-849C-7F3E024B42E5}" destId="{CA3D42DE-6CF4-4B02-9857-4AC825CCEA1E}" srcOrd="0" destOrd="0" presId="urn:microsoft.com/office/officeart/2005/8/layout/vList2"/>
    <dgm:cxn modelId="{0CA34AED-E645-49FF-BF44-D251BBE4D951}" srcId="{4C40E511-FFC8-43D0-849C-7F3E024B42E5}" destId="{CC679A20-9F30-4ED3-B68C-194A3EF89CFF}" srcOrd="2" destOrd="0" parTransId="{CD8A0860-E9E0-491F-891C-9CC84D22B136}" sibTransId="{C241DCC9-6D40-4637-A5A4-11108DA6F09B}"/>
    <dgm:cxn modelId="{0B6152F1-7A4E-4608-8EF4-3971ADED5683}" type="presOf" srcId="{D02F78AE-C60B-4572-948F-954242067613}" destId="{D8B26558-DAD1-4125-BD02-C06712A038DD}" srcOrd="0" destOrd="6" presId="urn:microsoft.com/office/officeart/2005/8/layout/vList2"/>
    <dgm:cxn modelId="{7D7D69BD-333D-44C0-A406-9BD4FC43D739}" type="presParOf" srcId="{3D8BB7E1-0DB7-4B10-914F-0F2A2559FE20}" destId="{CA3D42DE-6CF4-4B02-9857-4AC825CCEA1E}" srcOrd="0" destOrd="0" presId="urn:microsoft.com/office/officeart/2005/8/layout/vList2"/>
    <dgm:cxn modelId="{CA7AB3E7-ACB4-49D2-9FF4-5B2ECE99EE40}" type="presParOf" srcId="{3D8BB7E1-0DB7-4B10-914F-0F2A2559FE20}" destId="{D8B26558-DAD1-4125-BD02-C06712A038D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0E34E4-1AC4-4E47-8DF4-18C27046C8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40E511-FFC8-43D0-849C-7F3E024B42E5}">
      <dgm:prSet/>
      <dgm:spPr/>
      <dgm:t>
        <a:bodyPr/>
        <a:lstStyle/>
        <a:p>
          <a:r>
            <a:rPr lang="en-US" dirty="0"/>
            <a:t>Obsolete:</a:t>
          </a:r>
        </a:p>
      </dgm:t>
    </dgm:pt>
    <dgm:pt modelId="{ABCC77C4-9DF3-4BE3-B8A1-563422A2080C}" type="parTrans" cxnId="{E0D97F70-FE84-4BFC-A0E5-3010D92EB63B}">
      <dgm:prSet/>
      <dgm:spPr/>
      <dgm:t>
        <a:bodyPr/>
        <a:lstStyle/>
        <a:p>
          <a:endParaRPr lang="en-US"/>
        </a:p>
      </dgm:t>
    </dgm:pt>
    <dgm:pt modelId="{02A037B4-1190-46FF-AA93-2699B027B22F}" type="sibTrans" cxnId="{E0D97F70-FE84-4BFC-A0E5-3010D92EB63B}">
      <dgm:prSet/>
      <dgm:spPr/>
      <dgm:t>
        <a:bodyPr/>
        <a:lstStyle/>
        <a:p>
          <a:endParaRPr lang="en-US"/>
        </a:p>
      </dgm:t>
    </dgm:pt>
    <dgm:pt modelId="{48E136BB-0C91-4B17-8C68-1BE4CE1611AA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Humidity Sensor</a:t>
          </a:r>
        </a:p>
      </dgm:t>
    </dgm:pt>
    <dgm:pt modelId="{174388EE-31BD-4689-8598-77A1B5F79461}" type="parTrans" cxnId="{7E9D4650-C50A-4A1F-BB1E-8270F4E8B31F}">
      <dgm:prSet/>
      <dgm:spPr/>
      <dgm:t>
        <a:bodyPr/>
        <a:lstStyle/>
        <a:p>
          <a:endParaRPr lang="en-US"/>
        </a:p>
      </dgm:t>
    </dgm:pt>
    <dgm:pt modelId="{5B7AA3B4-A1B3-456C-9733-E31C833DD5A5}" type="sibTrans" cxnId="{7E9D4650-C50A-4A1F-BB1E-8270F4E8B31F}">
      <dgm:prSet/>
      <dgm:spPr/>
      <dgm:t>
        <a:bodyPr/>
        <a:lstStyle/>
        <a:p>
          <a:endParaRPr lang="en-US"/>
        </a:p>
      </dgm:t>
    </dgm:pt>
    <dgm:pt modelId="{C1A8BCE2-09DE-4588-8D70-9A7795894426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Pressure Sensor</a:t>
          </a:r>
        </a:p>
      </dgm:t>
    </dgm:pt>
    <dgm:pt modelId="{ED553002-1B46-449C-8ACC-BAED9B9FBA78}" type="parTrans" cxnId="{8E373BB2-A719-498B-B3EA-DD5A0AA73B24}">
      <dgm:prSet/>
      <dgm:spPr/>
      <dgm:t>
        <a:bodyPr/>
        <a:lstStyle/>
        <a:p>
          <a:endParaRPr lang="en-US"/>
        </a:p>
      </dgm:t>
    </dgm:pt>
    <dgm:pt modelId="{02733D94-FF63-48B3-8AFA-8A791D1AC7A1}" type="sibTrans" cxnId="{8E373BB2-A719-498B-B3EA-DD5A0AA73B24}">
      <dgm:prSet/>
      <dgm:spPr/>
      <dgm:t>
        <a:bodyPr/>
        <a:lstStyle/>
        <a:p>
          <a:endParaRPr lang="en-US"/>
        </a:p>
      </dgm:t>
    </dgm:pt>
    <dgm:pt modelId="{84C8C7C6-8C12-421F-821A-C60D1EA04311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Accelerometer</a:t>
          </a:r>
        </a:p>
      </dgm:t>
    </dgm:pt>
    <dgm:pt modelId="{2921F237-1099-4DA9-A826-A513DDFB05BF}" type="parTrans" cxnId="{FC112551-2375-40CE-8486-976367A97F6A}">
      <dgm:prSet/>
      <dgm:spPr/>
      <dgm:t>
        <a:bodyPr/>
        <a:lstStyle/>
        <a:p>
          <a:endParaRPr lang="en-US"/>
        </a:p>
      </dgm:t>
    </dgm:pt>
    <dgm:pt modelId="{7FD542FF-4D49-4C79-8225-A7AD325D37F1}" type="sibTrans" cxnId="{FC112551-2375-40CE-8486-976367A97F6A}">
      <dgm:prSet/>
      <dgm:spPr/>
      <dgm:t>
        <a:bodyPr/>
        <a:lstStyle/>
        <a:p>
          <a:endParaRPr lang="en-US"/>
        </a:p>
      </dgm:t>
    </dgm:pt>
    <dgm:pt modelId="{3D8BB7E1-0DB7-4B10-914F-0F2A2559FE20}" type="pres">
      <dgm:prSet presAssocID="{E60E34E4-1AC4-4E47-8DF4-18C27046C84E}" presName="linear" presStyleCnt="0">
        <dgm:presLayoutVars>
          <dgm:animLvl val="lvl"/>
          <dgm:resizeHandles val="exact"/>
        </dgm:presLayoutVars>
      </dgm:prSet>
      <dgm:spPr/>
    </dgm:pt>
    <dgm:pt modelId="{CA3D42DE-6CF4-4B02-9857-4AC825CCEA1E}" type="pres">
      <dgm:prSet presAssocID="{4C40E511-FFC8-43D0-849C-7F3E024B42E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8B26558-DAD1-4125-BD02-C06712A038DD}" type="pres">
      <dgm:prSet presAssocID="{4C40E511-FFC8-43D0-849C-7F3E024B42E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945A00E-713B-45ED-89AE-A5893D65A33F}" type="presOf" srcId="{84C8C7C6-8C12-421F-821A-C60D1EA04311}" destId="{D8B26558-DAD1-4125-BD02-C06712A038DD}" srcOrd="0" destOrd="2" presId="urn:microsoft.com/office/officeart/2005/8/layout/vList2"/>
    <dgm:cxn modelId="{7E9D4650-C50A-4A1F-BB1E-8270F4E8B31F}" srcId="{4C40E511-FFC8-43D0-849C-7F3E024B42E5}" destId="{48E136BB-0C91-4B17-8C68-1BE4CE1611AA}" srcOrd="0" destOrd="0" parTransId="{174388EE-31BD-4689-8598-77A1B5F79461}" sibTransId="{5B7AA3B4-A1B3-456C-9733-E31C833DD5A5}"/>
    <dgm:cxn modelId="{35566B50-669C-4901-8245-BECC6C435AEC}" type="presOf" srcId="{C1A8BCE2-09DE-4588-8D70-9A7795894426}" destId="{D8B26558-DAD1-4125-BD02-C06712A038DD}" srcOrd="0" destOrd="1" presId="urn:microsoft.com/office/officeart/2005/8/layout/vList2"/>
    <dgm:cxn modelId="{E0D97F70-FE84-4BFC-A0E5-3010D92EB63B}" srcId="{E60E34E4-1AC4-4E47-8DF4-18C27046C84E}" destId="{4C40E511-FFC8-43D0-849C-7F3E024B42E5}" srcOrd="0" destOrd="0" parTransId="{ABCC77C4-9DF3-4BE3-B8A1-563422A2080C}" sibTransId="{02A037B4-1190-46FF-AA93-2699B027B22F}"/>
    <dgm:cxn modelId="{FC112551-2375-40CE-8486-976367A97F6A}" srcId="{4C40E511-FFC8-43D0-849C-7F3E024B42E5}" destId="{84C8C7C6-8C12-421F-821A-C60D1EA04311}" srcOrd="2" destOrd="0" parTransId="{2921F237-1099-4DA9-A826-A513DDFB05BF}" sibTransId="{7FD542FF-4D49-4C79-8225-A7AD325D37F1}"/>
    <dgm:cxn modelId="{8E373BB2-A719-498B-B3EA-DD5A0AA73B24}" srcId="{4C40E511-FFC8-43D0-849C-7F3E024B42E5}" destId="{C1A8BCE2-09DE-4588-8D70-9A7795894426}" srcOrd="1" destOrd="0" parTransId="{ED553002-1B46-449C-8ACC-BAED9B9FBA78}" sibTransId="{02733D94-FF63-48B3-8AFA-8A791D1AC7A1}"/>
    <dgm:cxn modelId="{8848CBB6-B516-40F1-ABE4-CD670486D515}" type="presOf" srcId="{48E136BB-0C91-4B17-8C68-1BE4CE1611AA}" destId="{D8B26558-DAD1-4125-BD02-C06712A038DD}" srcOrd="0" destOrd="0" presId="urn:microsoft.com/office/officeart/2005/8/layout/vList2"/>
    <dgm:cxn modelId="{50F85ED5-966C-4392-930D-BA0737CFCC1B}" type="presOf" srcId="{E60E34E4-1AC4-4E47-8DF4-18C27046C84E}" destId="{3D8BB7E1-0DB7-4B10-914F-0F2A2559FE20}" srcOrd="0" destOrd="0" presId="urn:microsoft.com/office/officeart/2005/8/layout/vList2"/>
    <dgm:cxn modelId="{9FD191E0-FBF9-48AE-B6A7-B76819A3A1F3}" type="presOf" srcId="{4C40E511-FFC8-43D0-849C-7F3E024B42E5}" destId="{CA3D42DE-6CF4-4B02-9857-4AC825CCEA1E}" srcOrd="0" destOrd="0" presId="urn:microsoft.com/office/officeart/2005/8/layout/vList2"/>
    <dgm:cxn modelId="{7D7D69BD-333D-44C0-A406-9BD4FC43D739}" type="presParOf" srcId="{3D8BB7E1-0DB7-4B10-914F-0F2A2559FE20}" destId="{CA3D42DE-6CF4-4B02-9857-4AC825CCEA1E}" srcOrd="0" destOrd="0" presId="urn:microsoft.com/office/officeart/2005/8/layout/vList2"/>
    <dgm:cxn modelId="{CA7AB3E7-ACB4-49D2-9FF4-5B2ECE99EE40}" type="presParOf" srcId="{3D8BB7E1-0DB7-4B10-914F-0F2A2559FE20}" destId="{D8B26558-DAD1-4125-BD02-C06712A038D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D42DE-6CF4-4B02-9857-4AC825CCEA1E}">
      <dsp:nvSpPr>
        <dsp:cNvPr id="0" name=""/>
        <dsp:cNvSpPr/>
      </dsp:nvSpPr>
      <dsp:spPr>
        <a:xfrm>
          <a:off x="0" y="16854"/>
          <a:ext cx="2711421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Available:</a:t>
          </a:r>
        </a:p>
      </dsp:txBody>
      <dsp:txXfrm>
        <a:off x="27586" y="44440"/>
        <a:ext cx="2656249" cy="509938"/>
      </dsp:txXfrm>
    </dsp:sp>
    <dsp:sp modelId="{D8B26558-DAD1-4125-BD02-C06712A038DD}">
      <dsp:nvSpPr>
        <dsp:cNvPr id="0" name=""/>
        <dsp:cNvSpPr/>
      </dsp:nvSpPr>
      <dsp:spPr>
        <a:xfrm>
          <a:off x="0" y="581964"/>
          <a:ext cx="2711421" cy="2190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88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rgbClr val="00B050"/>
              </a:solidFill>
            </a:rPr>
            <a:t>Arduino UNO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accent6"/>
              </a:solidFill>
            </a:rPr>
            <a:t>TMP36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accent6"/>
              </a:solidFill>
            </a:rPr>
            <a:t>LEDs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accent6"/>
              </a:solidFill>
            </a:rPr>
            <a:t>Data Logger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accent6"/>
              </a:solidFill>
            </a:rPr>
            <a:t>Battery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accent6"/>
              </a:solidFill>
            </a:rPr>
            <a:t>Power Switch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accent6"/>
              </a:solidFill>
            </a:rPr>
            <a:t>Resistors</a:t>
          </a:r>
        </a:p>
      </dsp:txBody>
      <dsp:txXfrm>
        <a:off x="0" y="581964"/>
        <a:ext cx="2711421" cy="2190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D42DE-6CF4-4B02-9857-4AC825CCEA1E}">
      <dsp:nvSpPr>
        <dsp:cNvPr id="0" name=""/>
        <dsp:cNvSpPr/>
      </dsp:nvSpPr>
      <dsp:spPr>
        <a:xfrm>
          <a:off x="0" y="287055"/>
          <a:ext cx="1908875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Obsolete:</a:t>
          </a:r>
        </a:p>
      </dsp:txBody>
      <dsp:txXfrm>
        <a:off x="27586" y="314641"/>
        <a:ext cx="1853703" cy="509938"/>
      </dsp:txXfrm>
    </dsp:sp>
    <dsp:sp modelId="{D8B26558-DAD1-4125-BD02-C06712A038DD}">
      <dsp:nvSpPr>
        <dsp:cNvPr id="0" name=""/>
        <dsp:cNvSpPr/>
      </dsp:nvSpPr>
      <dsp:spPr>
        <a:xfrm>
          <a:off x="0" y="852165"/>
          <a:ext cx="1908875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0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rgbClr val="FF0000"/>
              </a:solidFill>
            </a:rPr>
            <a:t>Humidity Sensor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rgbClr val="FF0000"/>
              </a:solidFill>
            </a:rPr>
            <a:t>Pressure Sensor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rgbClr val="FF0000"/>
              </a:solidFill>
            </a:rPr>
            <a:t>Accelerometer</a:t>
          </a:r>
        </a:p>
      </dsp:txBody>
      <dsp:txXfrm>
        <a:off x="0" y="852165"/>
        <a:ext cx="1908875" cy="1428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7F38-755C-942A-B264-A5990816E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D2DE4-1994-F3F0-4C96-62900B32C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63E0F-18AD-5FBB-877A-7BA5E3FC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ADB15-BBD6-F6C6-4775-2B619A18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CC892-86D5-DD6D-F00A-BB6285A5A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2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5E16-5521-C3A3-9F40-84BD3F2F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FB634-AB39-06FC-1A68-08903444E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7982-68E9-F1F9-A57B-960DADE7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39D64-4386-1F8C-1AE5-B49DE0372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BFCB3-8DF6-6747-F3B7-2007C7C1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2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3AD29-A920-5BE0-9F1E-BAFCC1101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0CFBE-FF90-FAB9-6F5E-40AE1C825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BFA3D-F0FC-3683-B350-E243FE0F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D8B16-58DD-7344-CCFF-87A7687B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8C70A-5308-969F-8933-5E4A9FDC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8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8DD9-273F-F9DF-418A-BE24281A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3C81-9AFA-0931-32D2-F459747DE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34AD9-1DCB-EFAF-6EA9-9E23C93FE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9C53E-E19A-C3A5-81D8-DD6196FE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EFD2B-E0FF-1AB5-C5C7-40B02659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23159-F08C-F82E-8CE4-E23746DA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1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5E8F-D1C4-CA69-7361-E7F07F64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5F681-2613-C3BF-58B3-8854E91CA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6658C-D962-9ABB-3A3F-1AEB88BB5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972FF-2095-5F08-497D-9EFA4604C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503DE-C9D0-7747-CD2A-977EF667D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1238F-56FC-9EED-DC67-637A6D54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E06C2-4FDC-659D-DE43-F8D3F50D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0C764-0CEF-1D93-E84B-754FCEA9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6AC8-6217-1B22-485D-644A8648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9A9A9-08F1-5D0F-3699-48C6B91E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A2B6C-B283-567A-1764-D6297FD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57499-3080-B42C-ED15-AC89D7A8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85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A90A7-8B46-3A1B-7990-1B6505C9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C0613-CF1E-8A5F-7889-CB5B6343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AFFEB-F142-4012-5698-E8CE62B5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3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808C-A469-0151-87D2-D69005C8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F3504-139D-AD50-C332-89A687597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1FE14-E7EE-44A0-E0DF-CB54E102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E2295-C683-8021-D818-F049845F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63F39-B42D-D715-46C7-17EBB0B5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56756-99AD-0557-BE36-7B2FFEAD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CA8F-D831-9DD3-3B9C-14101C9B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C37A6-8BFF-B20B-E5D7-353D28098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E2E40-F133-5B46-13C0-72A353149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4351A-F45A-2BB0-38F9-61C548A5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71237-4F26-8CD9-A3CF-047043B3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6B61A-F177-5990-8EBF-475311D3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4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1D5F-346B-3636-060F-CC4BE84E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73CE4-45A2-C6DC-D1ED-FCDD93A0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B5109-CF1A-C366-EE43-194B5A88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45E28-F5EA-63AC-87B3-D82EAE10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5C9F-2E0A-FDE7-B25A-98827375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1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B7713-B271-2F37-5C5D-2B8CBE212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E60E1-7B74-B442-2A00-381904810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3E442-37B3-2BDE-F892-EC8972E3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1CFDB-5852-494A-726B-FB10AF4C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15160-FC33-49CF-6301-E868C27C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4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7A62C-1BF8-319D-E334-4932157A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CE34B-B84B-2718-CAEA-6DBAFE8E1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30EB1-B9AD-57E4-456D-11EF69703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F6F39-DE0F-4F4D-833E-A6E6D7EF35F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AAA50-E8B8-0680-BF8C-E2C566C22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230C3-2BE6-3BCA-69E8-FE81BFCC7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D2964-EB7C-4A45-8359-67F523AB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12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emoSat Finished PCB">
            <a:extLst>
              <a:ext uri="{FF2B5EF4-FFF2-40B4-BE49-F238E27FC236}">
                <a16:creationId xmlns:a16="http://schemas.microsoft.com/office/drawing/2014/main" id="{CC6BFEAE-65C3-D7B2-00EC-E3F8FC6C7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8" r="-1" b="1823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59A4A-D7AB-1867-F52E-FBCB5BB10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Microprocessors I</a:t>
            </a:r>
            <a:br>
              <a:rPr lang="en-US" sz="6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chemeClr val="bg1"/>
                </a:solidFill>
              </a:rPr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AA059-7794-3CA9-B1EA-2A209428A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Charlie Shields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8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042B-3E19-5BB0-80CB-AC64FDB3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56" y="0"/>
            <a:ext cx="10515600" cy="1325563"/>
          </a:xfrm>
        </p:spPr>
        <p:txBody>
          <a:bodyPr/>
          <a:lstStyle/>
          <a:p>
            <a:r>
              <a:rPr lang="en-US" dirty="0"/>
              <a:t>Current Design Analysis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54678FA-ADCC-2854-8C6C-85BDE2062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091307"/>
              </p:ext>
            </p:extLst>
          </p:nvPr>
        </p:nvGraphicFramePr>
        <p:xfrm>
          <a:off x="569100" y="1298187"/>
          <a:ext cx="2711421" cy="278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59F1473-0307-FEF0-9057-FF2B878284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172199"/>
              </p:ext>
            </p:extLst>
          </p:nvPr>
        </p:nvGraphicFramePr>
        <p:xfrm>
          <a:off x="627006" y="3892452"/>
          <a:ext cx="1908875" cy="2567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050" name="Picture 2" descr="Block Diagram">
            <a:extLst>
              <a:ext uri="{FF2B5EF4-FFF2-40B4-BE49-F238E27FC236}">
                <a16:creationId xmlns:a16="http://schemas.microsoft.com/office/drawing/2014/main" id="{12091BC0-8876-4564-75AA-0BDB9AB54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42"/>
          <a:stretch>
            <a:fillRect/>
          </a:stretch>
        </p:blipFill>
        <p:spPr bwMode="auto">
          <a:xfrm>
            <a:off x="3443739" y="1298187"/>
            <a:ext cx="8284473" cy="482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85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6FAA-B1B5-7DC5-55E1-59A7513D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26" y="20454"/>
            <a:ext cx="10515600" cy="1325563"/>
          </a:xfrm>
        </p:spPr>
        <p:txBody>
          <a:bodyPr/>
          <a:lstStyle/>
          <a:p>
            <a:r>
              <a:rPr lang="en-US" dirty="0"/>
              <a:t>Humidity &amp; Temperature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7CED8-AEB3-3139-04AC-33FD97F18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96" y="1429126"/>
            <a:ext cx="1742440" cy="49085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HIH-4030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HIH-4030 Humidity Sensor Hookup Guide - SparkFun Learn">
            <a:extLst>
              <a:ext uri="{FF2B5EF4-FFF2-40B4-BE49-F238E27FC236}">
                <a16:creationId xmlns:a16="http://schemas.microsoft.com/office/drawing/2014/main" id="{742B19ED-194F-29F9-086F-329B50640A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78" b="17911"/>
          <a:stretch>
            <a:fillRect/>
          </a:stretch>
        </p:blipFill>
        <p:spPr bwMode="auto">
          <a:xfrm>
            <a:off x="687445" y="1791618"/>
            <a:ext cx="2978020" cy="197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DCED5E-0966-0366-657A-03B126D5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1" t="41732" b="9603"/>
          <a:stretch>
            <a:fillRect/>
          </a:stretch>
        </p:blipFill>
        <p:spPr>
          <a:xfrm>
            <a:off x="483326" y="3888983"/>
            <a:ext cx="5791200" cy="2098074"/>
          </a:xfrm>
          <a:prstGeom prst="rect">
            <a:avLst/>
          </a:prstGeom>
        </p:spPr>
      </p:pic>
      <p:pic>
        <p:nvPicPr>
          <p:cNvPr id="3076" name="Picture 4" descr="Pressure Sensor 15PSI (103.42kPa) Absolute Male - 0.09&quot; (2.31mm) Tube 0.5 V ~ 4.5 V 8-DIP Module">
            <a:extLst>
              <a:ext uri="{FF2B5EF4-FFF2-40B4-BE49-F238E27FC236}">
                <a16:creationId xmlns:a16="http://schemas.microsoft.com/office/drawing/2014/main" id="{BC308553-6FC0-475F-5623-9C539DFF6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910" y="194330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E3C3DB-2A71-F462-A521-6E1CD098AADD}"/>
              </a:ext>
            </a:extLst>
          </p:cNvPr>
          <p:cNvSpPr txBox="1">
            <a:spLocks/>
          </p:cNvSpPr>
          <p:nvPr/>
        </p:nvSpPr>
        <p:spPr>
          <a:xfrm>
            <a:off x="6096000" y="1346017"/>
            <a:ext cx="3512820" cy="490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ASDXACX015PAAA5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EE04C1-5039-8EDB-7EF9-B646D5D4B1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3" r="47201" b="81761"/>
          <a:stretch>
            <a:fillRect/>
          </a:stretch>
        </p:blipFill>
        <p:spPr>
          <a:xfrm>
            <a:off x="-277959" y="6109664"/>
            <a:ext cx="6552485" cy="4746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638FA4-311C-3AC1-8C85-E5CEAE1F8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226" y="4334308"/>
            <a:ext cx="5683692" cy="14914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CCE950-5095-A804-58CB-D8D6974AE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417" y="5988362"/>
            <a:ext cx="5266566" cy="66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7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004F-03E8-4132-CB1A-8C72F70B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8" y="174247"/>
            <a:ext cx="10515600" cy="1325563"/>
          </a:xfrm>
        </p:spPr>
        <p:txBody>
          <a:bodyPr/>
          <a:lstStyle/>
          <a:p>
            <a:r>
              <a:rPr lang="en-US" dirty="0"/>
              <a:t>Adafruit MS8607 Breakout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F68A6-CFAD-9B34-A4F8-5C7200DE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06" y="1395498"/>
            <a:ext cx="2884714" cy="1887959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Pressure</a:t>
            </a:r>
          </a:p>
          <a:p>
            <a:r>
              <a:rPr lang="en-US" dirty="0">
                <a:solidFill>
                  <a:srgbClr val="00B050"/>
                </a:solidFill>
              </a:rPr>
              <a:t>Humidity</a:t>
            </a:r>
          </a:p>
          <a:p>
            <a:r>
              <a:rPr lang="en-US" dirty="0">
                <a:solidFill>
                  <a:srgbClr val="00B050"/>
                </a:solidFill>
              </a:rPr>
              <a:t>Temperature</a:t>
            </a:r>
          </a:p>
        </p:txBody>
      </p:sp>
      <p:pic>
        <p:nvPicPr>
          <p:cNvPr id="4098" name="Picture 2" descr="MS8607 Humidity, Pressure, Temperature Sensor Qwiic, STEMMA QT Platform Evaluation Expansion Board">
            <a:extLst>
              <a:ext uri="{FF2B5EF4-FFF2-40B4-BE49-F238E27FC236}">
                <a16:creationId xmlns:a16="http://schemas.microsoft.com/office/drawing/2014/main" id="{28A64DD1-4FB3-7F34-1A65-AD99CA106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9" t="17321" r="19133" b="41199"/>
          <a:stretch>
            <a:fillRect/>
          </a:stretch>
        </p:blipFill>
        <p:spPr bwMode="auto">
          <a:xfrm>
            <a:off x="406082" y="3283457"/>
            <a:ext cx="3743928" cy="254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D796BD-2AF2-C32E-DD6C-39583AC39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138" y="1395498"/>
            <a:ext cx="3558848" cy="3589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1DF43-3BFD-B7DD-317C-5084BC927C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-15408"/>
          <a:stretch>
            <a:fillRect/>
          </a:stretch>
        </p:blipFill>
        <p:spPr>
          <a:xfrm>
            <a:off x="7398130" y="5521101"/>
            <a:ext cx="5532510" cy="623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2F521D-77A2-803C-75D4-F3CBAA30B8EC}"/>
              </a:ext>
            </a:extLst>
          </p:cNvPr>
          <p:cNvSpPr txBox="1">
            <a:spLocks/>
          </p:cNvSpPr>
          <p:nvPr/>
        </p:nvSpPr>
        <p:spPr>
          <a:xfrm>
            <a:off x="7487818" y="987892"/>
            <a:ext cx="2884714" cy="434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Google: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287D62-A7D2-3CD7-ED6E-B1E73285F202}"/>
              </a:ext>
            </a:extLst>
          </p:cNvPr>
          <p:cNvSpPr txBox="1">
            <a:spLocks/>
          </p:cNvSpPr>
          <p:nvPr/>
        </p:nvSpPr>
        <p:spPr>
          <a:xfrm>
            <a:off x="7539138" y="5175246"/>
            <a:ext cx="2884714" cy="434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DigiKey: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8FE0F0-C50C-8317-4E4C-58C950CA85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011" t="27698" r="31829" b="9481"/>
          <a:stretch>
            <a:fillRect/>
          </a:stretch>
        </p:blipFill>
        <p:spPr>
          <a:xfrm>
            <a:off x="4708721" y="2177826"/>
            <a:ext cx="2130698" cy="212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5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4D02-6298-617F-0457-76667EB3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033" y="88074"/>
            <a:ext cx="10515600" cy="1325563"/>
          </a:xfrm>
        </p:spPr>
        <p:txBody>
          <a:bodyPr/>
          <a:lstStyle/>
          <a:p>
            <a:r>
              <a:rPr lang="en-US" dirty="0"/>
              <a:t>Accelerometer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A895C-DFCB-007A-2CE8-1ABA4174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1521447"/>
            <a:ext cx="4797490" cy="54435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SparkFun</a:t>
            </a:r>
            <a:r>
              <a:rPr lang="en-US" dirty="0">
                <a:solidFill>
                  <a:srgbClr val="FF0000"/>
                </a:solidFill>
              </a:rPr>
              <a:t> ADXL335 Breakout</a:t>
            </a:r>
          </a:p>
        </p:txBody>
      </p:sp>
      <p:pic>
        <p:nvPicPr>
          <p:cNvPr id="5122" name="Picture 2" descr="SparkFun Triple Axis Accelerometer Breakout - LIS3DH">
            <a:extLst>
              <a:ext uri="{FF2B5EF4-FFF2-40B4-BE49-F238E27FC236}">
                <a16:creationId xmlns:a16="http://schemas.microsoft.com/office/drawing/2014/main" id="{DCC49DDA-C9C6-0B5B-72A6-CF5335F013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1" t="19422" r="8483" b="22921"/>
          <a:stretch>
            <a:fillRect/>
          </a:stretch>
        </p:blipFill>
        <p:spPr bwMode="auto">
          <a:xfrm>
            <a:off x="7582053" y="2268718"/>
            <a:ext cx="3016596" cy="20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parkFun Triple Axis Accelerometer Breakout - ADXL335">
            <a:extLst>
              <a:ext uri="{FF2B5EF4-FFF2-40B4-BE49-F238E27FC236}">
                <a16:creationId xmlns:a16="http://schemas.microsoft.com/office/drawing/2014/main" id="{49FC7B5B-9A6E-1B04-1632-AD1667704F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17994" r="8823" b="18053"/>
          <a:stretch>
            <a:fillRect/>
          </a:stretch>
        </p:blipFill>
        <p:spPr bwMode="auto">
          <a:xfrm>
            <a:off x="1860775" y="2165408"/>
            <a:ext cx="2579045" cy="200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0F240B-91A1-6147-B360-B954380816E3}"/>
              </a:ext>
            </a:extLst>
          </p:cNvPr>
          <p:cNvSpPr txBox="1">
            <a:spLocks/>
          </p:cNvSpPr>
          <p:nvPr/>
        </p:nvSpPr>
        <p:spPr>
          <a:xfrm>
            <a:off x="6773588" y="1497048"/>
            <a:ext cx="4797490" cy="544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SparkFun</a:t>
            </a:r>
            <a:r>
              <a:rPr lang="en-US" dirty="0">
                <a:solidFill>
                  <a:schemeClr val="accent6"/>
                </a:solidFill>
              </a:rPr>
              <a:t> LIS3DH Breakout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CCDCF1-0CAB-E2A6-EB18-30AC99A03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104" y="4554977"/>
            <a:ext cx="4362939" cy="14326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8D249F-2581-29A3-02F0-086219E20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307" y="4693040"/>
            <a:ext cx="3758051" cy="1225092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F313DA4-AE90-B52F-153B-EC8BE004FC5B}"/>
              </a:ext>
            </a:extLst>
          </p:cNvPr>
          <p:cNvSpPr/>
          <p:nvPr/>
        </p:nvSpPr>
        <p:spPr>
          <a:xfrm>
            <a:off x="5434647" y="3200966"/>
            <a:ext cx="1338941" cy="4560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4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32429B-D275-8D05-EF78-0029D9FC7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638" y="657364"/>
            <a:ext cx="9714723" cy="554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6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8A890F-F63F-728F-1F60-ED2B9821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58715" cy="6858000"/>
          </a:xfrm>
          <a:prstGeom prst="rect">
            <a:avLst/>
          </a:prstGeom>
        </p:spPr>
      </p:pic>
      <p:pic>
        <p:nvPicPr>
          <p:cNvPr id="6146" name="Picture 2" descr="Linear Voltage Regulator IC Positive Fixed 1 Output 800mA TO-220">
            <a:extLst>
              <a:ext uri="{FF2B5EF4-FFF2-40B4-BE49-F238E27FC236}">
                <a16:creationId xmlns:a16="http://schemas.microsoft.com/office/drawing/2014/main" id="{FE2076AB-63BE-66E9-81AF-1F78DD040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451" y="1321289"/>
            <a:ext cx="1564433" cy="156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B94ADD-E506-6962-3B06-D6DAB3F12378}"/>
              </a:ext>
            </a:extLst>
          </p:cNvPr>
          <p:cNvSpPr txBox="1"/>
          <p:nvPr/>
        </p:nvSpPr>
        <p:spPr>
          <a:xfrm>
            <a:off x="9911443" y="900639"/>
            <a:ext cx="219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LD1117V33C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05A34-F225-7EF1-C118-083C45353506}"/>
              </a:ext>
            </a:extLst>
          </p:cNvPr>
          <p:cNvSpPr txBox="1"/>
          <p:nvPr/>
        </p:nvSpPr>
        <p:spPr>
          <a:xfrm>
            <a:off x="10225573" y="3569547"/>
            <a:ext cx="1564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TMP36</a:t>
            </a:r>
          </a:p>
        </p:txBody>
      </p:sp>
      <p:pic>
        <p:nvPicPr>
          <p:cNvPr id="6148" name="Picture 4" descr="Temperature Sensor - TMP36">
            <a:extLst>
              <a:ext uri="{FF2B5EF4-FFF2-40B4-BE49-F238E27FC236}">
                <a16:creationId xmlns:a16="http://schemas.microsoft.com/office/drawing/2014/main" id="{7DDEFEF5-8E8E-33BD-70D0-B9510C231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9294" y="3990197"/>
            <a:ext cx="1742590" cy="174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ABB624F-BF77-4AE1-B71D-2D681D473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542360-CDB3-31E6-0747-89BC3A62F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0" r="20054"/>
          <a:stretch>
            <a:fillRect/>
          </a:stretch>
        </p:blipFill>
        <p:spPr>
          <a:xfrm>
            <a:off x="-1" y="10"/>
            <a:ext cx="7370057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2B29B3-B0DB-8EEA-FFA8-90AFE8536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6" r="8365" b="-2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249BE0-8E3C-A80E-C3DC-A75E17A0E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1" r="9121" b="-2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3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DA734-2F83-D2D3-5E17-147E98947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97" y="392661"/>
            <a:ext cx="11791606" cy="60726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586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F9CC6A-EA0B-412F-78F8-BA28FEC0D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9468" r="28445" b="7975"/>
          <a:stretch>
            <a:fillRect/>
          </a:stretch>
        </p:blipFill>
        <p:spPr>
          <a:xfrm>
            <a:off x="7363488" y="1027948"/>
            <a:ext cx="4561035" cy="480210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ECD70-8722-201D-5D29-FADB71960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4" t="11720" r="28068" b="10998"/>
          <a:stretch>
            <a:fillRect/>
          </a:stretch>
        </p:blipFill>
        <p:spPr>
          <a:xfrm>
            <a:off x="286139" y="307385"/>
            <a:ext cx="6796701" cy="62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05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05FD-FA59-15EC-BEDD-7DBCC766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OSH-PARK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AA9AD59-2E73-1061-1638-F69E0D2D1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" y="1735594"/>
            <a:ext cx="5384801" cy="504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5A421E5-63DA-6B48-CFC5-604C9C277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1737781"/>
            <a:ext cx="5384800" cy="504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181026-97BC-C65B-8CDC-2DBEC0AE3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589" y="318032"/>
            <a:ext cx="5319221" cy="12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8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4A2FBD2-AF71-9425-47D4-9D30227FF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810129"/>
              </p:ext>
            </p:extLst>
          </p:nvPr>
        </p:nvGraphicFramePr>
        <p:xfrm>
          <a:off x="447870" y="964848"/>
          <a:ext cx="11288487" cy="17373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762829">
                  <a:extLst>
                    <a:ext uri="{9D8B030D-6E8A-4147-A177-3AD203B41FA5}">
                      <a16:colId xmlns:a16="http://schemas.microsoft.com/office/drawing/2014/main" val="822012965"/>
                    </a:ext>
                  </a:extLst>
                </a:gridCol>
                <a:gridCol w="3762829">
                  <a:extLst>
                    <a:ext uri="{9D8B030D-6E8A-4147-A177-3AD203B41FA5}">
                      <a16:colId xmlns:a16="http://schemas.microsoft.com/office/drawing/2014/main" val="40691227"/>
                    </a:ext>
                  </a:extLst>
                </a:gridCol>
                <a:gridCol w="3762829">
                  <a:extLst>
                    <a:ext uri="{9D8B030D-6E8A-4147-A177-3AD203B41FA5}">
                      <a16:colId xmlns:a16="http://schemas.microsoft.com/office/drawing/2014/main" val="144272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15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HIH-4030 ($53k!), ASDX ($35+), ADXL335 ($22.27)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MS8607 ($14.95), LIS3DH ($7.75)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64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logger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$17.50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$17.50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477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Total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~$70+ (with unobtainable parts)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~$40.20 (all available)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16694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4811040-75E2-693A-45C2-B59E61960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597084"/>
              </p:ext>
            </p:extLst>
          </p:nvPr>
        </p:nvGraphicFramePr>
        <p:xfrm>
          <a:off x="447870" y="2829042"/>
          <a:ext cx="11280711" cy="184539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760237">
                  <a:extLst>
                    <a:ext uri="{9D8B030D-6E8A-4147-A177-3AD203B41FA5}">
                      <a16:colId xmlns:a16="http://schemas.microsoft.com/office/drawing/2014/main" val="891156566"/>
                    </a:ext>
                  </a:extLst>
                </a:gridCol>
                <a:gridCol w="3760237">
                  <a:extLst>
                    <a:ext uri="{9D8B030D-6E8A-4147-A177-3AD203B41FA5}">
                      <a16:colId xmlns:a16="http://schemas.microsoft.com/office/drawing/2014/main" val="3999009354"/>
                    </a:ext>
                  </a:extLst>
                </a:gridCol>
                <a:gridCol w="3760237">
                  <a:extLst>
                    <a:ext uri="{9D8B030D-6E8A-4147-A177-3AD203B41FA5}">
                      <a16:colId xmlns:a16="http://schemas.microsoft.com/office/drawing/2014/main" val="1556223024"/>
                    </a:ext>
                  </a:extLst>
                </a:gridCol>
              </a:tblGrid>
              <a:tr h="38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16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Electronics + PCB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~108-113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~82 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643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Battery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~45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~45 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88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Enclosure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~30-50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~30-50 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88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~138-163 g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~112-127 g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58233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4FC72FD-324A-B0EA-8B10-8DC5F7F9D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901903"/>
              </p:ext>
            </p:extLst>
          </p:nvPr>
        </p:nvGraphicFramePr>
        <p:xfrm>
          <a:off x="447870" y="4801275"/>
          <a:ext cx="11288488" cy="182880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822122">
                  <a:extLst>
                    <a:ext uri="{9D8B030D-6E8A-4147-A177-3AD203B41FA5}">
                      <a16:colId xmlns:a16="http://schemas.microsoft.com/office/drawing/2014/main" val="381538721"/>
                    </a:ext>
                  </a:extLst>
                </a:gridCol>
                <a:gridCol w="2822122">
                  <a:extLst>
                    <a:ext uri="{9D8B030D-6E8A-4147-A177-3AD203B41FA5}">
                      <a16:colId xmlns:a16="http://schemas.microsoft.com/office/drawing/2014/main" val="1084237661"/>
                    </a:ext>
                  </a:extLst>
                </a:gridCol>
                <a:gridCol w="2822122">
                  <a:extLst>
                    <a:ext uri="{9D8B030D-6E8A-4147-A177-3AD203B41FA5}">
                      <a16:colId xmlns:a16="http://schemas.microsoft.com/office/drawing/2014/main" val="133633111"/>
                    </a:ext>
                  </a:extLst>
                </a:gridCol>
                <a:gridCol w="2822122">
                  <a:extLst>
                    <a:ext uri="{9D8B030D-6E8A-4147-A177-3AD203B41FA5}">
                      <a16:colId xmlns:a16="http://schemas.microsoft.com/office/drawing/2014/main" val="6157443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 2 (</a:t>
                      </a:r>
                      <a:r>
                        <a:rPr lang="en-US" dirty="0" err="1"/>
                        <a:t>lin</a:t>
                      </a:r>
                      <a:r>
                        <a:rPr lang="en-US" dirty="0"/>
                        <a:t> reg)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 2 (buck)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068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~308 mW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~275 mW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~275 mW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40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Regulator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~184 </a:t>
                      </a:r>
                      <a:r>
                        <a:rPr lang="en-US" dirty="0" err="1"/>
                        <a:t>mW</a:t>
                      </a:r>
                      <a:r>
                        <a:rPr lang="en-US" dirty="0"/>
                        <a:t> (hidden)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~570 mW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~50 mW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764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 from battery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~492 </a:t>
                      </a:r>
                      <a:r>
                        <a:rPr lang="en-US" b="1" dirty="0" err="1"/>
                        <a:t>mW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~845 mW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~325 mW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422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Est. battery life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~3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hrs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~1.5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hrs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~4-5 </a:t>
                      </a:r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hrs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68679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03BCBDB-D672-7286-38E7-B252D4B33D23}"/>
              </a:ext>
            </a:extLst>
          </p:cNvPr>
          <p:cNvSpPr txBox="1"/>
          <p:nvPr/>
        </p:nvSpPr>
        <p:spPr>
          <a:xfrm>
            <a:off x="447870" y="139959"/>
            <a:ext cx="3939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Phase 1 vs. Phase 2</a:t>
            </a:r>
          </a:p>
        </p:txBody>
      </p:sp>
    </p:spTree>
    <p:extLst>
      <p:ext uri="{BB962C8B-B14F-4D97-AF65-F5344CB8AC3E}">
        <p14:creationId xmlns:p14="http://schemas.microsoft.com/office/powerpoint/2010/main" val="249819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0F1D-EE33-C13F-45EA-1449B3A2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5E37A-258E-5BAA-1286-4899177F2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659" y="1690688"/>
            <a:ext cx="4668520" cy="4351338"/>
          </a:xfrm>
        </p:spPr>
        <p:txBody>
          <a:bodyPr/>
          <a:lstStyle/>
          <a:p>
            <a:r>
              <a:rPr lang="en-US" dirty="0"/>
              <a:t>I2C Bus (Heavy)</a:t>
            </a:r>
          </a:p>
          <a:p>
            <a:r>
              <a:rPr lang="en-US" dirty="0"/>
              <a:t>Linear Voltage Regulator (5.7v drop)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5C5957D-040D-86CA-F727-10975F17D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4" t="11720" r="28068" b="10998"/>
          <a:stretch>
            <a:fillRect/>
          </a:stretch>
        </p:blipFill>
        <p:spPr>
          <a:xfrm>
            <a:off x="6385199" y="1048047"/>
            <a:ext cx="5184060" cy="4761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881419-AFF6-422E-04A5-16820B2F2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2874" r="44248" b="16550"/>
          <a:stretch>
            <a:fillRect/>
          </a:stretch>
        </p:blipFill>
        <p:spPr>
          <a:xfrm>
            <a:off x="679839" y="3347719"/>
            <a:ext cx="5416161" cy="33578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E61158-39F0-D31B-2169-40D20B62A99F}"/>
              </a:ext>
            </a:extLst>
          </p:cNvPr>
          <p:cNvSpPr/>
          <p:nvPr/>
        </p:nvSpPr>
        <p:spPr>
          <a:xfrm>
            <a:off x="9237306" y="4562669"/>
            <a:ext cx="1408924" cy="8864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090EE70-7496-6EE8-92A4-1A58950809C4}"/>
              </a:ext>
            </a:extLst>
          </p:cNvPr>
          <p:cNvSpPr/>
          <p:nvPr/>
        </p:nvSpPr>
        <p:spPr>
          <a:xfrm rot="18364919">
            <a:off x="7085016" y="5666459"/>
            <a:ext cx="727787" cy="3732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D566CFA-4758-2A96-5A33-B867F0C04404}"/>
              </a:ext>
            </a:extLst>
          </p:cNvPr>
          <p:cNvSpPr/>
          <p:nvPr/>
        </p:nvSpPr>
        <p:spPr>
          <a:xfrm rot="16372763">
            <a:off x="9577874" y="5697644"/>
            <a:ext cx="727787" cy="3732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D4EA04-43B0-2211-0486-A261A0C21FC5}"/>
              </a:ext>
            </a:extLst>
          </p:cNvPr>
          <p:cNvSpPr/>
          <p:nvPr/>
        </p:nvSpPr>
        <p:spPr>
          <a:xfrm>
            <a:off x="3844211" y="4562669"/>
            <a:ext cx="373225" cy="886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84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222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Microprocessors I Final Project</vt:lpstr>
      <vt:lpstr>Current Design Analysis</vt:lpstr>
      <vt:lpstr>Humidity &amp; Temperature Sensors</vt:lpstr>
      <vt:lpstr>Adafruit MS8607 Breakout</vt:lpstr>
      <vt:lpstr>Accelerometer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OSH-PARK</vt:lpstr>
      <vt:lpstr>PowerPoint Presentation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Shields</dc:creator>
  <cp:lastModifiedBy>Charlie Shields</cp:lastModifiedBy>
  <cp:revision>14</cp:revision>
  <dcterms:created xsi:type="dcterms:W3CDTF">2026-03-13T05:40:21Z</dcterms:created>
  <dcterms:modified xsi:type="dcterms:W3CDTF">2026-03-13T07:44:41Z</dcterms:modified>
</cp:coreProperties>
</file>